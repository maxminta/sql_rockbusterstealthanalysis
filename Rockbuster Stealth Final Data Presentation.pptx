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2A17-7BAA-D28C-6CDC-21BDD7F64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CA7F2-B56A-A57F-0C8B-341F90E44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F1434-3028-CB3D-5423-9CC5FFD3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51B2-822A-4680-A7AC-11435AB27467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09220-177A-2FEA-AF3A-C95CDABE2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D571B-17EC-0272-3DB9-853CDF285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49B19-EE52-4AC8-AF26-BBBC5F84DA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33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2DAC-F8BE-1408-FBAF-5CF1B0E5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9E73D-7B45-3DA0-DE0B-85A9DAEA3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A24D-D0B8-7E18-AC0A-30D7CCBD9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51B2-822A-4680-A7AC-11435AB27467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5D720-DAAB-5763-D3BD-C61AEC270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9EB48-26AE-ACA1-4D10-6550A5948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49B19-EE52-4AC8-AF26-BBBC5F84DA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067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32204-1414-0FA3-2C73-A2CEAD745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6026C-44D0-E6E0-2222-FBBEEFCFC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4113C-C776-B0F6-6C62-8D7F690C3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51B2-822A-4680-A7AC-11435AB27467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F05C7-F8D3-F57F-6FCA-EA583FBBC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B55DA-DD29-C47E-B35B-BCB59434D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49B19-EE52-4AC8-AF26-BBBC5F84DA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243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016CC-F011-D4E5-1011-A97C2F2E0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A48F5-F17D-DD39-4A5C-EFB4843B7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828AF1-7D12-B6F3-80AA-A58D68509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BD4D1-3B1D-0715-AD65-4FBA3584D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51B2-822A-4680-A7AC-11435AB27467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BA3C8-7BC7-F267-82A0-7D5B9C7E5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3F87-F0D7-ECF7-C5C3-9B3548995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49B19-EE52-4AC8-AF26-BBBC5F84DA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416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F3220-4FB5-55DC-A356-FCC02AF6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B96B2-7B17-E5CA-8E33-B409EE6F2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7AD79-22B5-9A31-F5D5-3AB00C848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0B67C-D48E-1AEB-78B1-E6ABE94AF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5C2534-FCD1-7B78-AFCC-621A41815E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3C647D-07DB-0A83-B216-34B8299A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51B2-822A-4680-A7AC-11435AB27467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3B35BA-457B-D4E3-E0E2-7701DB5CC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B254D6-7EEA-D7E9-C2AA-5E2D30CB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49B19-EE52-4AC8-AF26-BBBC5F84DA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36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F3CC4-4424-113E-1055-8EAA14CAF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15FFB-6FB9-7631-D99B-586904CCC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51B2-822A-4680-A7AC-11435AB27467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6EA70B-AF8A-3393-8406-1C08AF037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0CDE1-D8CB-AC33-7C9C-37EFBC68B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49B19-EE52-4AC8-AF26-BBBC5F84DA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142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1BF738-B25A-FED8-F364-F6ECCA9F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51B2-822A-4680-A7AC-11435AB27467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44988-5F48-61B1-9B07-FCE8D9C64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C135D-D710-1943-9B60-EEB93E265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49B19-EE52-4AC8-AF26-BBBC5F84DA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180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4D035-40EA-4686-BB13-CA0718A1F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EC706-F16A-C329-E214-555211E1B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741E6-F8C3-D966-1A52-A82250604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9F6A9-C3CD-1C6C-E1BE-F77AACBF1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51B2-822A-4680-A7AC-11435AB27467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905EC-39F9-791A-C8B0-1F3E50F23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8DE93-D42A-72BC-7D38-6D157D0B8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49B19-EE52-4AC8-AF26-BBBC5F84DA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604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20EB-7CDB-FF51-9164-BA825B85E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BE72E6-1F67-06FD-038A-44DF173E0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4B44B-D1E7-AB3C-98DB-888A87400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DD512-E508-451B-7CF8-187546BB9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51B2-822A-4680-A7AC-11435AB27467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1DCFD-19FE-A335-492C-34CF6916C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23335D-48D9-8CC7-AFDA-3C5920617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49B19-EE52-4AC8-AF26-BBBC5F84DA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35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223FC-36E9-DDDF-35A1-C0EC47E0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25C8BE-353B-1DC4-6964-38572DA74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35C99-D08B-6235-F613-BA3F7675F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51B2-822A-4680-A7AC-11435AB27467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0844A-A393-8A1D-FEB9-517D777A8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BC1EF-874A-4516-5E74-A139F0FAD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49B19-EE52-4AC8-AF26-BBBC5F84DA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85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4DBC46-1795-17A5-7084-BC4D9500A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56CF9-5FA9-DCF5-E15E-DEC329274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DF2EE-601B-8D68-802B-0F3AA9CB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351B2-822A-4680-A7AC-11435AB27467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E8D35-4C6B-7CFA-120F-24F9BE141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2F949-989D-5629-009C-FB623D12D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49B19-EE52-4AC8-AF26-BBBC5F84DA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033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C6990C-24EE-70F1-435E-8DD45A458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BC692-5542-736A-7581-2408D8BD0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A0176-16C3-FA88-5DE2-79CAD52D82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3351B2-822A-4680-A7AC-11435AB27467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8F507-43D6-C7A8-9584-40BF0F1B7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4B0E4-A0AC-1EB9-E345-C253E1D42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149B19-EE52-4AC8-AF26-BBBC5F84DA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444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22.png"/><Relationship Id="rId7" Type="http://schemas.openxmlformats.org/officeDocument/2006/relationships/image" Target="../media/image24.svg"/><Relationship Id="rId12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maxwell.appiah5460/viz/RockbusterStealthLLCStoryFinal/RockbusterStealthLLCStory?publish=ye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background with lines&#10;&#10;AI-generated content may be incorrect.">
            <a:extLst>
              <a:ext uri="{FF2B5EF4-FFF2-40B4-BE49-F238E27FC236}">
                <a16:creationId xmlns:a16="http://schemas.microsoft.com/office/drawing/2014/main" id="{C68BF62A-86B2-BB78-8D77-3189BAE50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0104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C0E992-5CE5-3A81-2B5B-4C9181AE11B3}"/>
              </a:ext>
            </a:extLst>
          </p:cNvPr>
          <p:cNvSpPr txBox="1"/>
          <p:nvPr/>
        </p:nvSpPr>
        <p:spPr>
          <a:xfrm>
            <a:off x="2458064" y="2182761"/>
            <a:ext cx="84459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err="1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Rockbuster</a:t>
            </a:r>
            <a:r>
              <a:rPr lang="en-GB" sz="3600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 Stealth: </a:t>
            </a:r>
          </a:p>
          <a:p>
            <a:r>
              <a:rPr lang="en-GB" sz="3600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Strategic Analysis and </a:t>
            </a:r>
          </a:p>
          <a:p>
            <a:r>
              <a:rPr lang="en-GB" sz="3600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0DD83-454D-DE23-7F82-9560BCC0FBAD}"/>
              </a:ext>
            </a:extLst>
          </p:cNvPr>
          <p:cNvSpPr txBox="1"/>
          <p:nvPr/>
        </p:nvSpPr>
        <p:spPr>
          <a:xfrm>
            <a:off x="2477728" y="4945625"/>
            <a:ext cx="84459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Evaluating Market Entry Strategies and Competitive Positioning Dec 25, 2025 </a:t>
            </a:r>
          </a:p>
          <a:p>
            <a:r>
              <a:rPr lang="en-GB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 Maxwell Appiah, Data Analyst</a:t>
            </a:r>
          </a:p>
        </p:txBody>
      </p:sp>
    </p:spTree>
    <p:extLst>
      <p:ext uri="{BB962C8B-B14F-4D97-AF65-F5344CB8AC3E}">
        <p14:creationId xmlns:p14="http://schemas.microsoft.com/office/powerpoint/2010/main" val="1223126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background with lines&#10;&#10;AI-generated content may be incorrect.">
            <a:extLst>
              <a:ext uri="{FF2B5EF4-FFF2-40B4-BE49-F238E27FC236}">
                <a16:creationId xmlns:a16="http://schemas.microsoft.com/office/drawing/2014/main" id="{172A14B6-733C-55E5-F59C-EF2DA8899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19716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208116C6-38C6-C17E-B47C-3E7F417F6C46}"/>
              </a:ext>
            </a:extLst>
          </p:cNvPr>
          <p:cNvSpPr txBox="1">
            <a:spLocks/>
          </p:cNvSpPr>
          <p:nvPr/>
        </p:nvSpPr>
        <p:spPr>
          <a:xfrm>
            <a:off x="4827638" y="3071096"/>
            <a:ext cx="584036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DF94AF-0E2B-805B-B3C1-CE2049A00AD7}"/>
              </a:ext>
            </a:extLst>
          </p:cNvPr>
          <p:cNvSpPr txBox="1"/>
          <p:nvPr/>
        </p:nvSpPr>
        <p:spPr>
          <a:xfrm>
            <a:off x="924231" y="2598003"/>
            <a:ext cx="17993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dirty="0">
                <a:solidFill>
                  <a:schemeClr val="bg1"/>
                </a:solidFill>
              </a:rPr>
              <a:t>Project </a:t>
            </a:r>
          </a:p>
          <a:p>
            <a:pPr algn="r"/>
            <a:r>
              <a:rPr lang="en-GB" sz="2800" dirty="0">
                <a:solidFill>
                  <a:schemeClr val="bg1"/>
                </a:solidFill>
              </a:rPr>
              <a:t>Overview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4AEA06-79BE-598C-1563-707ADA3EDDFC}"/>
              </a:ext>
            </a:extLst>
          </p:cNvPr>
          <p:cNvSpPr txBox="1"/>
          <p:nvPr/>
        </p:nvSpPr>
        <p:spPr>
          <a:xfrm>
            <a:off x="4955458" y="1396181"/>
            <a:ext cx="656794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Background: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Rockbuster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Stealth LLC, previously known for its global Project Overview network of rental stores, is evolving to meet the demands of a market dominated by streaming services like Netflix and Amazon Prime. To stay competitive, our management team is leveraging our existing movie licenses to launch an online video rental service. </a:t>
            </a:r>
          </a:p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 key business questions that are critical to the successful launch of this new streaming platform. </a:t>
            </a:r>
          </a:p>
        </p:txBody>
      </p:sp>
    </p:spTree>
    <p:extLst>
      <p:ext uri="{BB962C8B-B14F-4D97-AF65-F5344CB8AC3E}">
        <p14:creationId xmlns:p14="http://schemas.microsoft.com/office/powerpoint/2010/main" val="1390926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EF48-4A8E-97DD-2D0F-C0D77391B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EC75AA1D-405B-24F8-48B8-13075D9D1389}"/>
              </a:ext>
            </a:extLst>
          </p:cNvPr>
          <p:cNvSpPr txBox="1">
            <a:spLocks/>
          </p:cNvSpPr>
          <p:nvPr/>
        </p:nvSpPr>
        <p:spPr>
          <a:xfrm>
            <a:off x="4827638" y="3041599"/>
            <a:ext cx="584036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1AAABF-98A5-F30C-8D53-1683C6D85CB4}"/>
              </a:ext>
            </a:extLst>
          </p:cNvPr>
          <p:cNvSpPr txBox="1"/>
          <p:nvPr/>
        </p:nvSpPr>
        <p:spPr>
          <a:xfrm>
            <a:off x="924231" y="2598003"/>
            <a:ext cx="22909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</a:t>
            </a:r>
          </a:p>
          <a:p>
            <a:pPr algn="r"/>
            <a:r>
              <a:rPr lang="en-GB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803D9B-317B-EF84-94F8-44909BFE83F3}"/>
              </a:ext>
            </a:extLst>
          </p:cNvPr>
          <p:cNvSpPr/>
          <p:nvPr/>
        </p:nvSpPr>
        <p:spPr>
          <a:xfrm>
            <a:off x="4700006" y="664344"/>
            <a:ext cx="5967993" cy="7472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4A074E-CB6A-9B27-F3CF-94659354C100}"/>
              </a:ext>
            </a:extLst>
          </p:cNvPr>
          <p:cNvSpPr txBox="1"/>
          <p:nvPr/>
        </p:nvSpPr>
        <p:spPr>
          <a:xfrm>
            <a:off x="4788310" y="912503"/>
            <a:ext cx="6567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was the average rental duration for all videos?</a:t>
            </a:r>
          </a:p>
        </p:txBody>
      </p:sp>
      <p:sp>
        <p:nvSpPr>
          <p:cNvPr id="14" name="Flowchart: Merge 13">
            <a:extLst>
              <a:ext uri="{FF2B5EF4-FFF2-40B4-BE49-F238E27FC236}">
                <a16:creationId xmlns:a16="http://schemas.microsoft.com/office/drawing/2014/main" id="{E1786EF6-A20E-DDBB-26A6-3F4809F91AFA}"/>
              </a:ext>
            </a:extLst>
          </p:cNvPr>
          <p:cNvSpPr/>
          <p:nvPr/>
        </p:nvSpPr>
        <p:spPr>
          <a:xfrm rot="8879166">
            <a:off x="4196801" y="832993"/>
            <a:ext cx="439644" cy="377606"/>
          </a:xfrm>
          <a:prstGeom prst="flowChartMerg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448CB5-37E0-61D2-9CCE-FC063461A876}"/>
              </a:ext>
            </a:extLst>
          </p:cNvPr>
          <p:cNvSpPr/>
          <p:nvPr/>
        </p:nvSpPr>
        <p:spPr>
          <a:xfrm>
            <a:off x="4727184" y="1549948"/>
            <a:ext cx="5940815" cy="7472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Which movies contributed the most/least to revenue gain? </a:t>
            </a:r>
          </a:p>
        </p:txBody>
      </p:sp>
      <p:pic>
        <p:nvPicPr>
          <p:cNvPr id="24" name="Graphic 23" descr="Video camera with solid fill">
            <a:extLst>
              <a:ext uri="{FF2B5EF4-FFF2-40B4-BE49-F238E27FC236}">
                <a16:creationId xmlns:a16="http://schemas.microsoft.com/office/drawing/2014/main" id="{3BF5BB10-A4C3-4BEF-EBAE-1CA338EE6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9820" y="1491227"/>
            <a:ext cx="642372" cy="64237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43458447-C7EA-6780-8F8A-17AEF45DE174}"/>
              </a:ext>
            </a:extLst>
          </p:cNvPr>
          <p:cNvSpPr/>
          <p:nvPr/>
        </p:nvSpPr>
        <p:spPr>
          <a:xfrm>
            <a:off x="4741936" y="2439775"/>
            <a:ext cx="5926063" cy="7472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Do sales figures vary between geographic regions?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449D8E-3935-5A9B-C047-6D1F9BA4CFAC}"/>
              </a:ext>
            </a:extLst>
          </p:cNvPr>
          <p:cNvSpPr/>
          <p:nvPr/>
        </p:nvSpPr>
        <p:spPr>
          <a:xfrm>
            <a:off x="4695090" y="3323980"/>
            <a:ext cx="5972909" cy="7472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4AA700-963F-16FB-4E07-8C6576E1B82E}"/>
              </a:ext>
            </a:extLst>
          </p:cNvPr>
          <p:cNvSpPr txBox="1"/>
          <p:nvPr/>
        </p:nvSpPr>
        <p:spPr>
          <a:xfrm>
            <a:off x="4729503" y="3490875"/>
            <a:ext cx="6135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Which countries are </a:t>
            </a:r>
            <a:r>
              <a:rPr lang="en-GB" dirty="0" err="1"/>
              <a:t>Rockbuster</a:t>
            </a:r>
            <a:r>
              <a:rPr lang="en-GB" dirty="0"/>
              <a:t> customers based in?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5AC038-BD29-E167-BF38-AA9E90406223}"/>
              </a:ext>
            </a:extLst>
          </p:cNvPr>
          <p:cNvSpPr/>
          <p:nvPr/>
        </p:nvSpPr>
        <p:spPr>
          <a:xfrm>
            <a:off x="4722268" y="4209584"/>
            <a:ext cx="5972909" cy="7472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Where are customers with a high lifetime value based?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5E6A2A-36F3-764E-1202-5C2038B78F26}"/>
              </a:ext>
            </a:extLst>
          </p:cNvPr>
          <p:cNvSpPr/>
          <p:nvPr/>
        </p:nvSpPr>
        <p:spPr>
          <a:xfrm>
            <a:off x="4737020" y="5099411"/>
            <a:ext cx="5972909" cy="7472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What movie genres generate the most revenue? </a:t>
            </a:r>
          </a:p>
        </p:txBody>
      </p:sp>
      <p:pic>
        <p:nvPicPr>
          <p:cNvPr id="33" name="Graphic 32" descr="Route (Two Pins With A Path) with solid fill">
            <a:extLst>
              <a:ext uri="{FF2B5EF4-FFF2-40B4-BE49-F238E27FC236}">
                <a16:creationId xmlns:a16="http://schemas.microsoft.com/office/drawing/2014/main" id="{4477E164-0CA8-EE0D-1FFA-78D4799C7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0103" y="2518985"/>
            <a:ext cx="580357" cy="580357"/>
          </a:xfrm>
          <a:prstGeom prst="rect">
            <a:avLst/>
          </a:prstGeom>
        </p:spPr>
      </p:pic>
      <p:pic>
        <p:nvPicPr>
          <p:cNvPr id="35" name="Graphic 34" descr="Earth globe: Africa and Europe with solid fill">
            <a:extLst>
              <a:ext uri="{FF2B5EF4-FFF2-40B4-BE49-F238E27FC236}">
                <a16:creationId xmlns:a16="http://schemas.microsoft.com/office/drawing/2014/main" id="{4363FDB9-14F2-7668-DB50-453C411CF9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38906" y="3477579"/>
            <a:ext cx="519075" cy="519075"/>
          </a:xfrm>
          <a:prstGeom prst="rect">
            <a:avLst/>
          </a:prstGeom>
        </p:spPr>
      </p:pic>
      <p:pic>
        <p:nvPicPr>
          <p:cNvPr id="37" name="Graphic 36" descr="Euro with solid fill">
            <a:extLst>
              <a:ext uri="{FF2B5EF4-FFF2-40B4-BE49-F238E27FC236}">
                <a16:creationId xmlns:a16="http://schemas.microsoft.com/office/drawing/2014/main" id="{C054AE0D-8A36-4103-E31E-9D64AEB262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0947" y="4279503"/>
            <a:ext cx="673505" cy="673505"/>
          </a:xfrm>
          <a:prstGeom prst="rect">
            <a:avLst/>
          </a:prstGeom>
        </p:spPr>
      </p:pic>
      <p:pic>
        <p:nvPicPr>
          <p:cNvPr id="41" name="Graphic 40" descr="Money with solid fill">
            <a:extLst>
              <a:ext uri="{FF2B5EF4-FFF2-40B4-BE49-F238E27FC236}">
                <a16:creationId xmlns:a16="http://schemas.microsoft.com/office/drawing/2014/main" id="{EB11947E-731E-812E-3A07-034E46BD335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58457" y="5170488"/>
            <a:ext cx="605097" cy="60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723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lines&#10;&#10;AI-generated content may be incorrect.">
            <a:extLst>
              <a:ext uri="{FF2B5EF4-FFF2-40B4-BE49-F238E27FC236}">
                <a16:creationId xmlns:a16="http://schemas.microsoft.com/office/drawing/2014/main" id="{B64BE800-F23F-8714-8A74-7E4526686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9" b="51106"/>
          <a:stretch>
            <a:fillRect/>
          </a:stretch>
        </p:blipFill>
        <p:spPr>
          <a:xfrm>
            <a:off x="0" y="-98321"/>
            <a:ext cx="12192000" cy="20746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1F8550-7ADB-EAD9-6490-AA57C54ECE09}"/>
              </a:ext>
            </a:extLst>
          </p:cNvPr>
          <p:cNvSpPr txBox="1"/>
          <p:nvPr/>
        </p:nvSpPr>
        <p:spPr>
          <a:xfrm>
            <a:off x="761999" y="749398"/>
            <a:ext cx="4095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Summary Statistics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BBB651-291D-1458-C276-7CE9906B6E19}"/>
              </a:ext>
            </a:extLst>
          </p:cNvPr>
          <p:cNvSpPr/>
          <p:nvPr/>
        </p:nvSpPr>
        <p:spPr>
          <a:xfrm>
            <a:off x="6248399" y="2637817"/>
            <a:ext cx="2777614" cy="15534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0B014B-60B6-C5E1-BCF0-E04BC2F685F8}"/>
              </a:ext>
            </a:extLst>
          </p:cNvPr>
          <p:cNvSpPr/>
          <p:nvPr/>
        </p:nvSpPr>
        <p:spPr>
          <a:xfrm>
            <a:off x="9178412" y="2637817"/>
            <a:ext cx="2777614" cy="15534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748986-8569-A5D1-D882-CA22F5A38EB9}"/>
              </a:ext>
            </a:extLst>
          </p:cNvPr>
          <p:cNvSpPr/>
          <p:nvPr/>
        </p:nvSpPr>
        <p:spPr>
          <a:xfrm>
            <a:off x="2059857" y="4555106"/>
            <a:ext cx="2777614" cy="15534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5A53B7-50C3-A9B4-77D2-1D754470D7A9}"/>
              </a:ext>
            </a:extLst>
          </p:cNvPr>
          <p:cNvSpPr/>
          <p:nvPr/>
        </p:nvSpPr>
        <p:spPr>
          <a:xfrm>
            <a:off x="4989870" y="4555106"/>
            <a:ext cx="2777614" cy="15534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2DD972-4CA1-DDDA-7C46-54F2B2B3F4AD}"/>
              </a:ext>
            </a:extLst>
          </p:cNvPr>
          <p:cNvSpPr/>
          <p:nvPr/>
        </p:nvSpPr>
        <p:spPr>
          <a:xfrm>
            <a:off x="7919883" y="4555106"/>
            <a:ext cx="2777614" cy="15534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B998F9-D735-77A7-63A2-2C3761862C30}"/>
              </a:ext>
            </a:extLst>
          </p:cNvPr>
          <p:cNvSpPr/>
          <p:nvPr/>
        </p:nvSpPr>
        <p:spPr>
          <a:xfrm>
            <a:off x="3318386" y="2652252"/>
            <a:ext cx="2777614" cy="15534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4F8BC6-C06B-830C-7E32-95BED26236C7}"/>
              </a:ext>
            </a:extLst>
          </p:cNvPr>
          <p:cNvSpPr/>
          <p:nvPr/>
        </p:nvSpPr>
        <p:spPr>
          <a:xfrm>
            <a:off x="388373" y="2637817"/>
            <a:ext cx="2777614" cy="15534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94E74E-43A4-66E1-E502-E71847F5A83E}"/>
              </a:ext>
            </a:extLst>
          </p:cNvPr>
          <p:cNvSpPr txBox="1"/>
          <p:nvPr/>
        </p:nvSpPr>
        <p:spPr>
          <a:xfrm>
            <a:off x="575186" y="2828835"/>
            <a:ext cx="24039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Average Rental Duration: </a:t>
            </a:r>
          </a:p>
          <a:p>
            <a:pPr algn="ctr"/>
            <a:r>
              <a:rPr lang="en-GB" sz="2400" dirty="0"/>
              <a:t>5 days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FC228D-F7B9-200F-3F76-1594CD98296E}"/>
              </a:ext>
            </a:extLst>
          </p:cNvPr>
          <p:cNvSpPr txBox="1"/>
          <p:nvPr/>
        </p:nvSpPr>
        <p:spPr>
          <a:xfrm>
            <a:off x="3505199" y="2828835"/>
            <a:ext cx="2403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Average Rental Rate: $0.99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139129-A3A4-BA96-EC0E-0069BD1780E3}"/>
              </a:ext>
            </a:extLst>
          </p:cNvPr>
          <p:cNvSpPr txBox="1"/>
          <p:nvPr/>
        </p:nvSpPr>
        <p:spPr>
          <a:xfrm>
            <a:off x="9308690" y="2847342"/>
            <a:ext cx="2403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Films Never Rented: 42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889A16-FD1A-2B7E-D8E1-5BCA145F7669}"/>
              </a:ext>
            </a:extLst>
          </p:cNvPr>
          <p:cNvSpPr txBox="1"/>
          <p:nvPr/>
        </p:nvSpPr>
        <p:spPr>
          <a:xfrm>
            <a:off x="6435212" y="2868163"/>
            <a:ext cx="2403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Total Number of Films: 1,000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BCF47A-13ED-1DF0-1F08-0B12934365B9}"/>
              </a:ext>
            </a:extLst>
          </p:cNvPr>
          <p:cNvSpPr txBox="1"/>
          <p:nvPr/>
        </p:nvSpPr>
        <p:spPr>
          <a:xfrm>
            <a:off x="2303205" y="4731689"/>
            <a:ext cx="24039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Average Film Length: 115 minutes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FF7619-8798-227B-60DA-3E65546D6699}"/>
              </a:ext>
            </a:extLst>
          </p:cNvPr>
          <p:cNvSpPr txBox="1"/>
          <p:nvPr/>
        </p:nvSpPr>
        <p:spPr>
          <a:xfrm>
            <a:off x="5233218" y="4731689"/>
            <a:ext cx="24039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Most Common Movie Rating: PG-13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D144D2-DC62-215D-2771-FE43DC950F50}"/>
              </a:ext>
            </a:extLst>
          </p:cNvPr>
          <p:cNvSpPr txBox="1"/>
          <p:nvPr/>
        </p:nvSpPr>
        <p:spPr>
          <a:xfrm>
            <a:off x="8010832" y="4731688"/>
            <a:ext cx="2403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Number of film languages: 1 </a:t>
            </a:r>
          </a:p>
        </p:txBody>
      </p:sp>
    </p:spTree>
    <p:extLst>
      <p:ext uri="{BB962C8B-B14F-4D97-AF65-F5344CB8AC3E}">
        <p14:creationId xmlns:p14="http://schemas.microsoft.com/office/powerpoint/2010/main" val="2612567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E21C6-4158-CE09-E28B-5C012463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lines&#10;&#10;AI-generated content may be incorrect.">
            <a:extLst>
              <a:ext uri="{FF2B5EF4-FFF2-40B4-BE49-F238E27FC236}">
                <a16:creationId xmlns:a16="http://schemas.microsoft.com/office/drawing/2014/main" id="{F91C14FE-561C-0667-1F57-F7400E8F3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9" b="51106"/>
          <a:stretch>
            <a:fillRect/>
          </a:stretch>
        </p:blipFill>
        <p:spPr>
          <a:xfrm>
            <a:off x="0" y="-98321"/>
            <a:ext cx="12192000" cy="20746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8AA05E-2747-A43A-7836-903D21701675}"/>
              </a:ext>
            </a:extLst>
          </p:cNvPr>
          <p:cNvSpPr txBox="1"/>
          <p:nvPr/>
        </p:nvSpPr>
        <p:spPr>
          <a:xfrm>
            <a:off x="761999" y="357602"/>
            <a:ext cx="85466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Which movies contributed the most/least to revenue gain? </a:t>
            </a:r>
          </a:p>
        </p:txBody>
      </p:sp>
      <p:pic>
        <p:nvPicPr>
          <p:cNvPr id="5" name="Picture 4" descr="A blue and white bar chart&#10;&#10;AI-generated content may be incorrect.">
            <a:extLst>
              <a:ext uri="{FF2B5EF4-FFF2-40B4-BE49-F238E27FC236}">
                <a16:creationId xmlns:a16="http://schemas.microsoft.com/office/drawing/2014/main" id="{FDE6C97C-0904-F981-EFCE-5EB33213B6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51"/>
          <a:stretch>
            <a:fillRect/>
          </a:stretch>
        </p:blipFill>
        <p:spPr>
          <a:xfrm>
            <a:off x="297676" y="2172229"/>
            <a:ext cx="9842803" cy="2074626"/>
          </a:xfrm>
          <a:prstGeom prst="rect">
            <a:avLst/>
          </a:prstGeom>
        </p:spPr>
      </p:pic>
      <p:pic>
        <p:nvPicPr>
          <p:cNvPr id="30" name="Picture 29" descr="A line of blue dots&#10;&#10;AI-generated content may be incorrect.">
            <a:extLst>
              <a:ext uri="{FF2B5EF4-FFF2-40B4-BE49-F238E27FC236}">
                <a16:creationId xmlns:a16="http://schemas.microsoft.com/office/drawing/2014/main" id="{00C58377-10FA-6DB4-3015-6A862EAD7B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813" y="2430282"/>
            <a:ext cx="949322" cy="4368816"/>
          </a:xfrm>
          <a:prstGeom prst="rect">
            <a:avLst/>
          </a:prstGeom>
        </p:spPr>
      </p:pic>
      <p:pic>
        <p:nvPicPr>
          <p:cNvPr id="31" name="Picture 30" descr="A blue and white bar chart&#10;&#10;AI-generated content may be incorrect.">
            <a:extLst>
              <a:ext uri="{FF2B5EF4-FFF2-40B4-BE49-F238E27FC236}">
                <a16:creationId xmlns:a16="http://schemas.microsoft.com/office/drawing/2014/main" id="{F4A1178C-CD1D-3090-BFC9-6BFFA1462B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19"/>
          <a:stretch>
            <a:fillRect/>
          </a:stretch>
        </p:blipFill>
        <p:spPr>
          <a:xfrm>
            <a:off x="289852" y="4134957"/>
            <a:ext cx="9788932" cy="2074605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EBD2BE-A49D-8D6D-7CEB-CB59BDA470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261"/>
          <a:stretch>
            <a:fillRect/>
          </a:stretch>
        </p:blipFill>
        <p:spPr>
          <a:xfrm>
            <a:off x="9642346" y="2111538"/>
            <a:ext cx="1268746" cy="446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1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50C44-F047-160C-6A76-EAF130A2D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lines&#10;&#10;AI-generated content may be incorrect.">
            <a:extLst>
              <a:ext uri="{FF2B5EF4-FFF2-40B4-BE49-F238E27FC236}">
                <a16:creationId xmlns:a16="http://schemas.microsoft.com/office/drawing/2014/main" id="{D8A7D8DF-CC12-37C7-8326-FA3CC8362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9" b="88282"/>
          <a:stretch>
            <a:fillRect/>
          </a:stretch>
        </p:blipFill>
        <p:spPr>
          <a:xfrm>
            <a:off x="0" y="-98321"/>
            <a:ext cx="12192000" cy="500993"/>
          </a:xfrm>
          <a:prstGeom prst="rect">
            <a:avLst/>
          </a:prstGeom>
        </p:spPr>
      </p:pic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538C673-0266-D141-EA0A-3F8B0E181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5"/>
          <a:stretch>
            <a:fillRect/>
          </a:stretch>
        </p:blipFill>
        <p:spPr>
          <a:xfrm>
            <a:off x="218114" y="893428"/>
            <a:ext cx="11464975" cy="5813570"/>
          </a:xfrm>
          <a:prstGeom prst="rect">
            <a:avLst/>
          </a:prstGeom>
        </p:spPr>
      </p:pic>
      <p:pic>
        <p:nvPicPr>
          <p:cNvPr id="9" name="Picture 8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EF09A3FD-6360-BD61-F79F-49E26FCA0A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50" y="5018273"/>
            <a:ext cx="7180977" cy="183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93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2A9DF-3418-DE73-7FE5-D0D4C19C1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lines&#10;&#10;AI-generated content may be incorrect.">
            <a:extLst>
              <a:ext uri="{FF2B5EF4-FFF2-40B4-BE49-F238E27FC236}">
                <a16:creationId xmlns:a16="http://schemas.microsoft.com/office/drawing/2014/main" id="{B165EA51-9D24-684E-30E3-B80EB7471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9" b="51106"/>
          <a:stretch>
            <a:fillRect/>
          </a:stretch>
        </p:blipFill>
        <p:spPr>
          <a:xfrm>
            <a:off x="0" y="-98321"/>
            <a:ext cx="12192000" cy="2074606"/>
          </a:xfrm>
          <a:prstGeom prst="rect">
            <a:avLst/>
          </a:prstGeom>
        </p:spPr>
      </p:pic>
      <p:pic>
        <p:nvPicPr>
          <p:cNvPr id="6" name="Picture 5" descr="A graph with a bar and a number&#10;&#10;AI-generated content may be incorrect.">
            <a:extLst>
              <a:ext uri="{FF2B5EF4-FFF2-40B4-BE49-F238E27FC236}">
                <a16:creationId xmlns:a16="http://schemas.microsoft.com/office/drawing/2014/main" id="{AC22CF31-83DD-04B8-D68F-5A0411C1B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66"/>
          <a:stretch>
            <a:fillRect/>
          </a:stretch>
        </p:blipFill>
        <p:spPr>
          <a:xfrm>
            <a:off x="2078898" y="4752293"/>
            <a:ext cx="9905194" cy="19716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E61935-6A1E-55B8-2F02-EE932170F401}"/>
              </a:ext>
            </a:extLst>
          </p:cNvPr>
          <p:cNvSpPr txBox="1"/>
          <p:nvPr/>
        </p:nvSpPr>
        <p:spPr>
          <a:xfrm>
            <a:off x="761999" y="357602"/>
            <a:ext cx="85466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Do sales figures vary between geographic regions?</a:t>
            </a:r>
          </a:p>
        </p:txBody>
      </p:sp>
      <p:pic>
        <p:nvPicPr>
          <p:cNvPr id="8" name="Picture 7" descr="A map of the world&#10;&#10;AI-generated content may be incorrect.">
            <a:extLst>
              <a:ext uri="{FF2B5EF4-FFF2-40B4-BE49-F238E27FC236}">
                <a16:creationId xmlns:a16="http://schemas.microsoft.com/office/drawing/2014/main" id="{D2FAD2E6-589D-3C69-7356-8FB7AF1883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73"/>
          <a:stretch>
            <a:fillRect/>
          </a:stretch>
        </p:blipFill>
        <p:spPr>
          <a:xfrm>
            <a:off x="343949" y="2166920"/>
            <a:ext cx="10960393" cy="25853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3E2706-7BED-54C9-13BD-4008340D9014}"/>
              </a:ext>
            </a:extLst>
          </p:cNvPr>
          <p:cNvSpPr txBox="1"/>
          <p:nvPr/>
        </p:nvSpPr>
        <p:spPr>
          <a:xfrm>
            <a:off x="207909" y="5276430"/>
            <a:ext cx="2099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India is responsible for the largest majority of revenue. </a:t>
            </a:r>
          </a:p>
          <a:p>
            <a:endParaRPr lang="en-GB" sz="700" dirty="0"/>
          </a:p>
          <a:p>
            <a:r>
              <a:rPr lang="en-GB" sz="700" dirty="0"/>
              <a:t>It is also the Country with largest customer base </a:t>
            </a:r>
          </a:p>
        </p:txBody>
      </p:sp>
    </p:spTree>
    <p:extLst>
      <p:ext uri="{BB962C8B-B14F-4D97-AF65-F5344CB8AC3E}">
        <p14:creationId xmlns:p14="http://schemas.microsoft.com/office/powerpoint/2010/main" val="1824740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D3417-2FCE-EF38-0016-DD07B2830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lines&#10;&#10;AI-generated content may be incorrect.">
            <a:extLst>
              <a:ext uri="{FF2B5EF4-FFF2-40B4-BE49-F238E27FC236}">
                <a16:creationId xmlns:a16="http://schemas.microsoft.com/office/drawing/2014/main" id="{40E7C292-D3D8-2442-9118-114B09DAF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0" r="82385" b="88"/>
          <a:stretch>
            <a:fillRect/>
          </a:stretch>
        </p:blipFill>
        <p:spPr>
          <a:xfrm>
            <a:off x="-1" y="-98322"/>
            <a:ext cx="3528328" cy="69563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B7DE57-2606-BCEB-8D3D-9F420433DA8D}"/>
              </a:ext>
            </a:extLst>
          </p:cNvPr>
          <p:cNvSpPr txBox="1"/>
          <p:nvPr/>
        </p:nvSpPr>
        <p:spPr>
          <a:xfrm>
            <a:off x="542159" y="1642552"/>
            <a:ext cx="31369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Where are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customers with a high lifetime value based? 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FC0955-4E61-EEFA-378A-6E66CE1A9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7537" y="391439"/>
            <a:ext cx="7919797" cy="558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364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7CB39-BF7A-943B-8073-A8AED4DE3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lines&#10;&#10;AI-generated content may be incorrect.">
            <a:extLst>
              <a:ext uri="{FF2B5EF4-FFF2-40B4-BE49-F238E27FC236}">
                <a16:creationId xmlns:a16="http://schemas.microsoft.com/office/drawing/2014/main" id="{0DEFF18C-6BAB-052D-21D3-BCD7E0820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0" r="82385" b="88"/>
          <a:stretch>
            <a:fillRect/>
          </a:stretch>
        </p:blipFill>
        <p:spPr>
          <a:xfrm>
            <a:off x="-1" y="-98322"/>
            <a:ext cx="3528328" cy="69563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F9D165-8182-747B-3DC8-0F4B62EAF5EA}"/>
              </a:ext>
            </a:extLst>
          </p:cNvPr>
          <p:cNvSpPr txBox="1"/>
          <p:nvPr/>
        </p:nvSpPr>
        <p:spPr>
          <a:xfrm>
            <a:off x="542159" y="1642552"/>
            <a:ext cx="28137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movie genres generate the most revenue?</a:t>
            </a:r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3183C72-58C7-ABFB-A6A9-06098D32C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1703" b="19151"/>
          <a:stretch>
            <a:fillRect/>
          </a:stretch>
        </p:blipFill>
        <p:spPr>
          <a:xfrm>
            <a:off x="4166646" y="174375"/>
            <a:ext cx="7466413" cy="4499733"/>
          </a:xfrm>
          <a:prstGeom prst="rect">
            <a:avLst/>
          </a:prstGeom>
        </p:spPr>
      </p:pic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0FD56D9-B922-AA17-451B-640C5E279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8" t="82499" r="137" b="6156"/>
          <a:stretch>
            <a:fillRect/>
          </a:stretch>
        </p:blipFill>
        <p:spPr>
          <a:xfrm>
            <a:off x="9672165" y="4652481"/>
            <a:ext cx="1793431" cy="579395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A14DC632-A0FB-2945-7CF6-E8C08CD3F08D}"/>
              </a:ext>
            </a:extLst>
          </p:cNvPr>
          <p:cNvSpPr/>
          <p:nvPr/>
        </p:nvSpPr>
        <p:spPr>
          <a:xfrm rot="19536107">
            <a:off x="11191267" y="4741682"/>
            <a:ext cx="329938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60166E-BABD-2983-41E3-CFA2F4FB6357}"/>
              </a:ext>
            </a:extLst>
          </p:cNvPr>
          <p:cNvSpPr txBox="1"/>
          <p:nvPr/>
        </p:nvSpPr>
        <p:spPr>
          <a:xfrm>
            <a:off x="4238918" y="5297863"/>
            <a:ext cx="75634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Sports, Sci-Fi, Animation, Drama, and Comedy are the most popular movie genres generating ~35% of the total revenue. </a:t>
            </a:r>
          </a:p>
          <a:p>
            <a:endParaRPr lang="en-GB" dirty="0">
              <a:effectLst/>
            </a:endParaRPr>
          </a:p>
          <a:p>
            <a:r>
              <a:rPr lang="en-GB" dirty="0"/>
              <a:t>Thriller films are the least popular only generating a revenue total of $48. </a:t>
            </a:r>
          </a:p>
        </p:txBody>
      </p:sp>
    </p:spTree>
    <p:extLst>
      <p:ext uri="{BB962C8B-B14F-4D97-AF65-F5344CB8AC3E}">
        <p14:creationId xmlns:p14="http://schemas.microsoft.com/office/powerpoint/2010/main" val="4108285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AC7DD-B7D4-2A60-D0F8-398907DCE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lines&#10;&#10;AI-generated content may be incorrect.">
            <a:extLst>
              <a:ext uri="{FF2B5EF4-FFF2-40B4-BE49-F238E27FC236}">
                <a16:creationId xmlns:a16="http://schemas.microsoft.com/office/drawing/2014/main" id="{DD3BB2DA-1C05-B035-D31D-B5839BD42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9" b="51106"/>
          <a:stretch>
            <a:fillRect/>
          </a:stretch>
        </p:blipFill>
        <p:spPr>
          <a:xfrm>
            <a:off x="0" y="-98321"/>
            <a:ext cx="12192000" cy="20746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FDD7F6-87D0-EBF5-2BBF-D69D8C9F8566}"/>
              </a:ext>
            </a:extLst>
          </p:cNvPr>
          <p:cNvSpPr txBox="1"/>
          <p:nvPr/>
        </p:nvSpPr>
        <p:spPr>
          <a:xfrm>
            <a:off x="761999" y="357602"/>
            <a:ext cx="85466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Recommendations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6F6AA7A-97A2-8EBE-47BE-C20E1E7B2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467" y="1557930"/>
            <a:ext cx="9378017" cy="4942468"/>
          </a:xfrm>
          <a:prstGeom prst="rect">
            <a:avLst/>
          </a:prstGeom>
          <a:effectLst/>
        </p:spPr>
      </p:pic>
      <p:pic>
        <p:nvPicPr>
          <p:cNvPr id="12" name="Graphic 11" descr="Video camera with solid fill">
            <a:extLst>
              <a:ext uri="{FF2B5EF4-FFF2-40B4-BE49-F238E27FC236}">
                <a16:creationId xmlns:a16="http://schemas.microsoft.com/office/drawing/2014/main" id="{054C0913-91C0-D78E-89D1-4ABDEE873B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7095" y="2549127"/>
            <a:ext cx="642372" cy="642372"/>
          </a:xfrm>
          <a:prstGeom prst="rect">
            <a:avLst/>
          </a:prstGeom>
        </p:spPr>
      </p:pic>
      <p:pic>
        <p:nvPicPr>
          <p:cNvPr id="13" name="Graphic 12" descr="Route (Two Pins With A Path) with solid fill">
            <a:extLst>
              <a:ext uri="{FF2B5EF4-FFF2-40B4-BE49-F238E27FC236}">
                <a16:creationId xmlns:a16="http://schemas.microsoft.com/office/drawing/2014/main" id="{D5655237-78CF-B24C-5657-91E5E2C792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4002" y="1395928"/>
            <a:ext cx="580357" cy="580357"/>
          </a:xfrm>
          <a:prstGeom prst="rect">
            <a:avLst/>
          </a:prstGeom>
        </p:spPr>
      </p:pic>
      <p:pic>
        <p:nvPicPr>
          <p:cNvPr id="14" name="Graphic 13" descr="Earth globe: Africa and Europe with solid fill">
            <a:extLst>
              <a:ext uri="{FF2B5EF4-FFF2-40B4-BE49-F238E27FC236}">
                <a16:creationId xmlns:a16="http://schemas.microsoft.com/office/drawing/2014/main" id="{EEC064C3-FCEA-583F-CBF4-9DD007F982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32437" y="4761994"/>
            <a:ext cx="519075" cy="519075"/>
          </a:xfrm>
          <a:prstGeom prst="rect">
            <a:avLst/>
          </a:prstGeom>
        </p:spPr>
      </p:pic>
      <p:pic>
        <p:nvPicPr>
          <p:cNvPr id="15" name="Graphic 14" descr="Euro with solid fill">
            <a:extLst>
              <a:ext uri="{FF2B5EF4-FFF2-40B4-BE49-F238E27FC236}">
                <a16:creationId xmlns:a16="http://schemas.microsoft.com/office/drawing/2014/main" id="{86CC0222-5E41-22BC-3112-C397C22273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55223" y="5646389"/>
            <a:ext cx="673505" cy="673505"/>
          </a:xfrm>
          <a:prstGeom prst="rect">
            <a:avLst/>
          </a:prstGeom>
        </p:spPr>
      </p:pic>
      <p:pic>
        <p:nvPicPr>
          <p:cNvPr id="16" name="Graphic 15" descr="Money with solid fill">
            <a:extLst>
              <a:ext uri="{FF2B5EF4-FFF2-40B4-BE49-F238E27FC236}">
                <a16:creationId xmlns:a16="http://schemas.microsoft.com/office/drawing/2014/main" id="{606D4A21-3D2E-DF8E-53ED-0A4B95B86A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66507" y="3666501"/>
            <a:ext cx="605097" cy="60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827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lines&#10;&#10;AI-generated content may be incorrect.">
            <a:extLst>
              <a:ext uri="{FF2B5EF4-FFF2-40B4-BE49-F238E27FC236}">
                <a16:creationId xmlns:a16="http://schemas.microsoft.com/office/drawing/2014/main" id="{8466C6F9-B3F1-DC59-A45F-F946ECE72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A5B757-F68E-DBD5-83CC-4C0ACC309240}"/>
              </a:ext>
            </a:extLst>
          </p:cNvPr>
          <p:cNvSpPr txBox="1"/>
          <p:nvPr/>
        </p:nvSpPr>
        <p:spPr>
          <a:xfrm>
            <a:off x="4553147" y="2488675"/>
            <a:ext cx="3544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D82442-99D3-0F9A-B6EA-93608097050D}"/>
              </a:ext>
            </a:extLst>
          </p:cNvPr>
          <p:cNvSpPr txBox="1"/>
          <p:nvPr/>
        </p:nvSpPr>
        <p:spPr>
          <a:xfrm>
            <a:off x="650450" y="3473777"/>
            <a:ext cx="111424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hlinkClick r:id="rId3"/>
              </a:rPr>
              <a:t>https://public.tableau.com/app/profile/maxwell.appiah5460/viz/RockbusterStealthLLCStoryFinal/RockbusterStealthLLCStory?publish=yes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364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Aharoni</vt:lpstr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ANITA BOADU</dc:creator>
  <cp:lastModifiedBy>ANITA BOADU</cp:lastModifiedBy>
  <cp:revision>1</cp:revision>
  <dcterms:created xsi:type="dcterms:W3CDTF">2026-01-03T01:33:26Z</dcterms:created>
  <dcterms:modified xsi:type="dcterms:W3CDTF">2026-01-03T11:58:22Z</dcterms:modified>
</cp:coreProperties>
</file>